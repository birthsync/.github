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8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58D24-BB30-4743-9F88-E61AEFC464DB}" type="datetimeFigureOut">
              <a:rPr lang="ru-RU" smtClean="0"/>
              <a:t>04.10.2025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067DC-C851-4D6D-BCFB-158C61699B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469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067DC-C851-4D6D-BCFB-158C61699B7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23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sz="3600" b="1">
                <a:latin typeface="Arial"/>
              </a:rPr>
              <a:t>Кейс №7: «Неудачная маркетинговая кампания» — BirthSync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Arial"/>
              </a:rPr>
              <a:t>SWOT → Альтернативы → Матрица рисков → Выбор (30–60–90, KPI)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dirty="0" err="1">
                <a:latin typeface="Arial"/>
              </a:rPr>
              <a:t>Контекст</a:t>
            </a:r>
            <a:r>
              <a:rPr sz="3200" b="1" dirty="0">
                <a:latin typeface="Arial"/>
              </a:rPr>
              <a:t> и </a:t>
            </a:r>
            <a:r>
              <a:rPr sz="3200" b="1" dirty="0" err="1">
                <a:latin typeface="Arial"/>
              </a:rPr>
              <a:t>проблема</a:t>
            </a:r>
            <a:endParaRPr sz="3200" b="1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412480" cy="4754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>
                <a:latin typeface="Arial"/>
              </a:rPr>
              <a:t>• BirthSync — мини‑приложение в Telegram: напоминания о ДР, анкеты, виш‑листы, ИИ‑подбор подарков.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>
                <a:latin typeface="Arial"/>
              </a:rPr>
              <a:t>• Кампания не даёт целевой цены и объёма установок → риск лишних затрат и недостаточной базы.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>
                <a:latin typeface="Arial"/>
              </a:rPr>
              <a:t>• Цель: снизить CAC и ускорить рост активной базы без потери качества.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dirty="0">
                <a:latin typeface="Arial"/>
              </a:rPr>
              <a:t>SWOT‑</a:t>
            </a:r>
            <a:r>
              <a:rPr sz="3200" b="1" dirty="0" err="1">
                <a:latin typeface="Arial"/>
              </a:rPr>
              <a:t>анализ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BirthSync</a:t>
            </a:r>
            <a:endParaRPr sz="3200" b="1" dirty="0"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4206240" cy="23774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Сильные</a:t>
            </a:r>
            <a:r>
              <a:rPr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стороны</a:t>
            </a:r>
            <a:r>
              <a:rPr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(S)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Удобный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Telegram,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связка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анкета+виш‑лист+ИИ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Диверсификация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монетизации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подписка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партнёрки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реклама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контент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Простые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цены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(99 ₽/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мес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999 ₽/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год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Широкий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рынок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выраженная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сезонность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подарков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188720"/>
            <a:ext cx="4206240" cy="23774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400" b="1" dirty="0" err="1">
                <a:solidFill>
                  <a:schemeClr val="tx1"/>
                </a:solidFill>
                <a:latin typeface="Arial"/>
              </a:rPr>
              <a:t>Слабые</a:t>
            </a:r>
            <a:r>
              <a:rPr sz="1400" b="1" dirty="0">
                <a:solidFill>
                  <a:schemeClr val="tx1"/>
                </a:solidFill>
                <a:latin typeface="Arial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Arial"/>
              </a:rPr>
              <a:t>стороны</a:t>
            </a:r>
            <a:r>
              <a:rPr sz="1400" b="1" dirty="0">
                <a:solidFill>
                  <a:schemeClr val="tx1"/>
                </a:solidFill>
                <a:latin typeface="Arial"/>
              </a:rPr>
              <a:t> (W)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Зависимость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от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подписок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как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ключевого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источника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выручки</a:t>
            </a:r>
            <a:r>
              <a:rPr sz="1400" dirty="0">
                <a:solidFill>
                  <a:schemeClr val="tx1"/>
                </a:solidFill>
                <a:latin typeface="Arial"/>
              </a:rPr>
              <a:t>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Низкая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узнаваемость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бренда</a:t>
            </a:r>
            <a:r>
              <a:rPr sz="1400" dirty="0">
                <a:solidFill>
                  <a:schemeClr val="tx1"/>
                </a:solidFill>
                <a:latin typeface="Arial"/>
              </a:rPr>
              <a:t> и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база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креативов</a:t>
            </a:r>
            <a:r>
              <a:rPr sz="1400" dirty="0">
                <a:solidFill>
                  <a:schemeClr val="tx1"/>
                </a:solidFill>
                <a:latin typeface="Arial"/>
              </a:rPr>
              <a:t>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Сложности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атрибуции</a:t>
            </a:r>
            <a:r>
              <a:rPr sz="1400" dirty="0">
                <a:solidFill>
                  <a:schemeClr val="tx1"/>
                </a:solidFill>
                <a:latin typeface="Arial"/>
              </a:rPr>
              <a:t> в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экосистеме</a:t>
            </a:r>
            <a:r>
              <a:rPr sz="1400" dirty="0">
                <a:solidFill>
                  <a:schemeClr val="tx1"/>
                </a:solidFill>
                <a:latin typeface="Arial"/>
              </a:rPr>
              <a:t> Telegram.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Недостаточная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сегментация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текущей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кампании</a:t>
            </a:r>
            <a:r>
              <a:rPr sz="1400" dirty="0">
                <a:solidFill>
                  <a:schemeClr val="tx1"/>
                </a:solidFill>
                <a:latin typeface="Arial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66160"/>
            <a:ext cx="4206240" cy="23774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400" b="1" dirty="0" err="1">
                <a:solidFill>
                  <a:schemeClr val="tx1"/>
                </a:solidFill>
                <a:latin typeface="Arial"/>
              </a:rPr>
              <a:t>Возможности</a:t>
            </a:r>
            <a:r>
              <a:rPr sz="1400" b="1" dirty="0">
                <a:solidFill>
                  <a:schemeClr val="tx1"/>
                </a:solidFill>
                <a:latin typeface="Arial"/>
              </a:rPr>
              <a:t> (O)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Партнёрства</a:t>
            </a:r>
            <a:r>
              <a:rPr sz="1400" dirty="0">
                <a:solidFill>
                  <a:schemeClr val="tx1"/>
                </a:solidFill>
                <a:latin typeface="Arial"/>
              </a:rPr>
              <a:t> с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магазинами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подарков</a:t>
            </a:r>
            <a:r>
              <a:rPr sz="1400" dirty="0">
                <a:solidFill>
                  <a:schemeClr val="tx1"/>
                </a:solidFill>
                <a:latin typeface="Arial"/>
              </a:rPr>
              <a:t>/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ботами</a:t>
            </a:r>
            <a:r>
              <a:rPr sz="1400" dirty="0">
                <a:solidFill>
                  <a:schemeClr val="tx1"/>
                </a:solidFill>
                <a:latin typeface="Arial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кросс‑промо</a:t>
            </a:r>
            <a:r>
              <a:rPr sz="1400" dirty="0">
                <a:solidFill>
                  <a:schemeClr val="tx1"/>
                </a:solidFill>
                <a:latin typeface="Arial"/>
              </a:rPr>
              <a:t> (CPA).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Реферальные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петли</a:t>
            </a:r>
            <a:r>
              <a:rPr sz="1400" dirty="0">
                <a:solidFill>
                  <a:schemeClr val="tx1"/>
                </a:solidFill>
                <a:latin typeface="Arial"/>
              </a:rPr>
              <a:t> и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шаринг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виш‑листов</a:t>
            </a:r>
            <a:r>
              <a:rPr sz="1400" dirty="0">
                <a:solidFill>
                  <a:schemeClr val="tx1"/>
                </a:solidFill>
                <a:latin typeface="Arial"/>
              </a:rPr>
              <a:t> (PLG).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Микро‑инфлюенсеры</a:t>
            </a:r>
            <a:r>
              <a:rPr sz="1400" dirty="0">
                <a:solidFill>
                  <a:schemeClr val="tx1"/>
                </a:solidFill>
                <a:latin typeface="Arial"/>
              </a:rPr>
              <a:t> и UGC‑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контент</a:t>
            </a:r>
            <a:r>
              <a:rPr sz="1400" dirty="0">
                <a:solidFill>
                  <a:schemeClr val="tx1"/>
                </a:solidFill>
                <a:latin typeface="Arial"/>
              </a:rPr>
              <a:t> в Telegram.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B2B‑кейсы: HR/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офисы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для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корпоративных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поздравлений</a:t>
            </a:r>
            <a:r>
              <a:rPr sz="1400" dirty="0">
                <a:solidFill>
                  <a:schemeClr val="tx1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566160"/>
            <a:ext cx="4206240" cy="23774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400" b="1" dirty="0" err="1">
                <a:solidFill>
                  <a:schemeClr val="tx1"/>
                </a:solidFill>
                <a:latin typeface="Arial"/>
              </a:rPr>
              <a:t>Угрозы</a:t>
            </a:r>
            <a:r>
              <a:rPr sz="1400" b="1" dirty="0">
                <a:solidFill>
                  <a:schemeClr val="tx1"/>
                </a:solidFill>
                <a:latin typeface="Arial"/>
              </a:rPr>
              <a:t> (T)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Прямые</a:t>
            </a:r>
            <a:r>
              <a:rPr sz="1400" dirty="0">
                <a:solidFill>
                  <a:schemeClr val="tx1"/>
                </a:solidFill>
                <a:latin typeface="Arial"/>
              </a:rPr>
              <a:t> и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косвенные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конкуренты</a:t>
            </a:r>
            <a:r>
              <a:rPr sz="1400" dirty="0">
                <a:solidFill>
                  <a:schemeClr val="tx1"/>
                </a:solidFill>
                <a:latin typeface="Arial"/>
              </a:rPr>
              <a:t>/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клоны</a:t>
            </a:r>
            <a:r>
              <a:rPr sz="1400" dirty="0">
                <a:solidFill>
                  <a:schemeClr val="tx1"/>
                </a:solidFill>
                <a:latin typeface="Arial"/>
              </a:rPr>
              <a:t>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Рост</a:t>
            </a:r>
            <a:r>
              <a:rPr sz="1400" dirty="0">
                <a:solidFill>
                  <a:schemeClr val="tx1"/>
                </a:solidFill>
                <a:latin typeface="Arial"/>
              </a:rPr>
              <a:t> CPM/CPC,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изменения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правил</a:t>
            </a:r>
            <a:r>
              <a:rPr sz="1400" dirty="0">
                <a:solidFill>
                  <a:schemeClr val="tx1"/>
                </a:solidFill>
                <a:latin typeface="Arial"/>
              </a:rPr>
              <a:t> Telegram Ads,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сезонность</a:t>
            </a:r>
            <a:r>
              <a:rPr sz="1400" dirty="0">
                <a:solidFill>
                  <a:schemeClr val="tx1"/>
                </a:solidFill>
                <a:latin typeface="Arial"/>
              </a:rPr>
              <a:t>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Риски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приватности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данных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предпочтений</a:t>
            </a:r>
            <a:r>
              <a:rPr sz="1400" dirty="0">
                <a:solidFill>
                  <a:schemeClr val="tx1"/>
                </a:solidFill>
                <a:latin typeface="Arial"/>
              </a:rPr>
              <a:t>.</a:t>
            </a:r>
          </a:p>
          <a:p>
            <a:pPr>
              <a:lnSpc>
                <a:spcPct val="110000"/>
              </a:lnSpc>
            </a:pPr>
            <a:r>
              <a:rPr sz="1400" dirty="0">
                <a:solidFill>
                  <a:schemeClr val="tx1"/>
                </a:solidFill>
                <a:latin typeface="Arial"/>
              </a:rPr>
              <a:t>•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Ограничения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органического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охвата</a:t>
            </a:r>
            <a:r>
              <a:rPr sz="1400" dirty="0">
                <a:solidFill>
                  <a:schemeClr val="tx1"/>
                </a:solidFill>
                <a:latin typeface="Arial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Arial"/>
              </a:rPr>
              <a:t>каналов</a:t>
            </a:r>
            <a:r>
              <a:rPr sz="1400" dirty="0"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dirty="0" err="1">
                <a:latin typeface="Arial"/>
              </a:rPr>
              <a:t>Альтернативные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решения</a:t>
            </a:r>
            <a:endParaRPr sz="3200" b="1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412480" cy="4754880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1" dirty="0">
                <a:latin typeface="Arial"/>
              </a:rPr>
              <a:t>A. «Fix &amp; Focus» </a:t>
            </a:r>
            <a:r>
              <a:rPr sz="1800" b="1" dirty="0" err="1">
                <a:latin typeface="Arial"/>
              </a:rPr>
              <a:t>перфоманс</a:t>
            </a:r>
            <a:endParaRPr sz="1800" b="1" dirty="0">
              <a:latin typeface="Arial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Креатив‑спринт</a:t>
            </a:r>
            <a:r>
              <a:rPr sz="1800" dirty="0">
                <a:latin typeface="Arial"/>
              </a:rPr>
              <a:t> 10× </a:t>
            </a:r>
            <a:r>
              <a:rPr sz="1800" dirty="0" err="1">
                <a:latin typeface="Arial"/>
              </a:rPr>
              <a:t>по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персонам</a:t>
            </a:r>
            <a:r>
              <a:rPr sz="1800" dirty="0">
                <a:latin typeface="Arial"/>
              </a:rPr>
              <a:t>/</a:t>
            </a:r>
            <a:r>
              <a:rPr sz="1800" dirty="0" err="1">
                <a:latin typeface="Arial"/>
              </a:rPr>
              <a:t>офферам</a:t>
            </a:r>
            <a:r>
              <a:rPr sz="1800" dirty="0">
                <a:latin typeface="Arial"/>
              </a:rPr>
              <a:t>/UGC.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Arial"/>
              </a:rPr>
              <a:t>С</a:t>
            </a:r>
            <a:r>
              <a:rPr sz="1800" dirty="0" err="1">
                <a:latin typeface="Arial"/>
              </a:rPr>
              <a:t>егментация</a:t>
            </a:r>
            <a:r>
              <a:rPr sz="1800" dirty="0">
                <a:latin typeface="Arial"/>
              </a:rPr>
              <a:t>: </a:t>
            </a:r>
            <a:r>
              <a:rPr sz="1800" dirty="0" err="1">
                <a:latin typeface="Arial"/>
              </a:rPr>
              <a:t>пары</a:t>
            </a:r>
            <a:r>
              <a:rPr sz="1800" dirty="0">
                <a:latin typeface="Arial"/>
              </a:rPr>
              <a:t> 18–30, </a:t>
            </a:r>
            <a:r>
              <a:rPr sz="1800" dirty="0" err="1">
                <a:latin typeface="Arial"/>
              </a:rPr>
              <a:t>родители</a:t>
            </a:r>
            <a:r>
              <a:rPr sz="1800" dirty="0">
                <a:latin typeface="Arial"/>
              </a:rPr>
              <a:t> 20–40, </a:t>
            </a:r>
            <a:r>
              <a:rPr sz="1800" dirty="0" err="1">
                <a:latin typeface="Arial"/>
              </a:rPr>
              <a:t>офис</a:t>
            </a:r>
            <a:r>
              <a:rPr sz="1800" dirty="0">
                <a:latin typeface="Arial"/>
              </a:rPr>
              <a:t>/HR.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latin typeface="Arial"/>
              </a:rPr>
              <a:t>TG Ads/</a:t>
            </a:r>
            <a:r>
              <a:rPr sz="1800" dirty="0" err="1">
                <a:latin typeface="Arial"/>
              </a:rPr>
              <a:t>бот‑сети</a:t>
            </a:r>
            <a:r>
              <a:rPr sz="1800" dirty="0">
                <a:latin typeface="Arial"/>
              </a:rPr>
              <a:t> с </a:t>
            </a:r>
            <a:r>
              <a:rPr sz="1800" dirty="0" err="1">
                <a:latin typeface="Arial"/>
              </a:rPr>
              <a:t>жёсткими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стоп‑лоссами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по</a:t>
            </a:r>
            <a:r>
              <a:rPr sz="1800" dirty="0">
                <a:latin typeface="Arial"/>
              </a:rPr>
              <a:t> CAC.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1" dirty="0">
                <a:latin typeface="Arial"/>
              </a:rPr>
              <a:t>B. PLG‑</a:t>
            </a:r>
            <a:r>
              <a:rPr sz="1800" b="1" dirty="0" err="1">
                <a:latin typeface="Arial"/>
              </a:rPr>
              <a:t>рост</a:t>
            </a:r>
            <a:endParaRPr sz="1800" b="1" dirty="0">
              <a:latin typeface="Arial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Двусторонняя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рефералка</a:t>
            </a:r>
            <a:r>
              <a:rPr sz="1800" dirty="0">
                <a:latin typeface="Arial"/>
              </a:rPr>
              <a:t> (7‑дн. </a:t>
            </a:r>
            <a:r>
              <a:rPr sz="1800" dirty="0" err="1">
                <a:latin typeface="Arial"/>
              </a:rPr>
              <a:t>премиум</a:t>
            </a:r>
            <a:r>
              <a:rPr sz="1800" dirty="0">
                <a:latin typeface="Arial"/>
              </a:rPr>
              <a:t>/</a:t>
            </a:r>
            <a:r>
              <a:rPr sz="1800" dirty="0" err="1">
                <a:latin typeface="Arial"/>
              </a:rPr>
              <a:t>бонусы</a:t>
            </a:r>
            <a:r>
              <a:rPr sz="1800" dirty="0">
                <a:latin typeface="Arial"/>
              </a:rPr>
              <a:t>).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Онбординг</a:t>
            </a:r>
            <a:r>
              <a:rPr sz="1800" dirty="0">
                <a:latin typeface="Arial"/>
              </a:rPr>
              <a:t> к «</a:t>
            </a:r>
            <a:r>
              <a:rPr sz="1800" dirty="0" err="1">
                <a:latin typeface="Arial"/>
              </a:rPr>
              <a:t>первой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ценности</a:t>
            </a:r>
            <a:r>
              <a:rPr sz="1800" dirty="0">
                <a:latin typeface="Arial"/>
              </a:rPr>
              <a:t>»: ≥</a:t>
            </a:r>
            <a:r>
              <a:rPr lang="en-US" sz="1800" dirty="0">
                <a:latin typeface="Arial"/>
              </a:rPr>
              <a:t>1</a:t>
            </a:r>
            <a:r>
              <a:rPr sz="1800" dirty="0">
                <a:latin typeface="Arial"/>
              </a:rPr>
              <a:t> ДР + 1 </a:t>
            </a:r>
            <a:r>
              <a:rPr sz="1800" dirty="0" err="1">
                <a:latin typeface="Arial"/>
              </a:rPr>
              <a:t>виш‑лист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за</a:t>
            </a:r>
            <a:r>
              <a:rPr sz="1800" dirty="0">
                <a:latin typeface="Arial"/>
              </a:rPr>
              <a:t> </a:t>
            </a:r>
            <a:r>
              <a:rPr lang="ru-RU" sz="1800" dirty="0">
                <a:latin typeface="Arial"/>
              </a:rPr>
              <a:t>первые 60-</a:t>
            </a:r>
            <a:r>
              <a:rPr sz="1800" dirty="0">
                <a:latin typeface="Arial"/>
              </a:rPr>
              <a:t>90 </a:t>
            </a:r>
            <a:r>
              <a:rPr sz="1800" dirty="0" err="1">
                <a:latin typeface="Arial"/>
              </a:rPr>
              <a:t>сек</a:t>
            </a:r>
            <a:r>
              <a:rPr sz="1800" dirty="0"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1" dirty="0">
                <a:latin typeface="Arial"/>
              </a:rPr>
              <a:t>C. </a:t>
            </a:r>
            <a:r>
              <a:rPr sz="1800" b="1" dirty="0" err="1">
                <a:latin typeface="Arial"/>
              </a:rPr>
              <a:t>Партнёрские</a:t>
            </a:r>
            <a:r>
              <a:rPr sz="1800" b="1" dirty="0">
                <a:latin typeface="Arial"/>
              </a:rPr>
              <a:t> </a:t>
            </a:r>
            <a:r>
              <a:rPr sz="1800" b="1" dirty="0" err="1">
                <a:latin typeface="Arial"/>
              </a:rPr>
              <a:t>пилоты</a:t>
            </a:r>
            <a:endParaRPr sz="1800" b="1" dirty="0">
              <a:latin typeface="Arial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latin typeface="Arial"/>
              </a:rPr>
              <a:t>CPA/</a:t>
            </a:r>
            <a:r>
              <a:rPr sz="1800" dirty="0" err="1">
                <a:latin typeface="Arial"/>
              </a:rPr>
              <a:t>кросс‑промо</a:t>
            </a:r>
            <a:r>
              <a:rPr sz="1800" dirty="0">
                <a:latin typeface="Arial"/>
              </a:rPr>
              <a:t> с </a:t>
            </a:r>
            <a:r>
              <a:rPr sz="1800" dirty="0" err="1">
                <a:latin typeface="Arial"/>
              </a:rPr>
              <a:t>ритейлерами</a:t>
            </a:r>
            <a:r>
              <a:rPr sz="1800" dirty="0">
                <a:latin typeface="Arial"/>
              </a:rPr>
              <a:t> и </a:t>
            </a:r>
            <a:r>
              <a:rPr sz="1800" dirty="0" err="1">
                <a:latin typeface="Arial"/>
              </a:rPr>
              <a:t>тематич</a:t>
            </a:r>
            <a:r>
              <a:rPr sz="1800" dirty="0">
                <a:latin typeface="Arial"/>
              </a:rPr>
              <a:t>. </a:t>
            </a:r>
            <a:r>
              <a:rPr sz="1800" dirty="0" err="1">
                <a:latin typeface="Arial"/>
              </a:rPr>
              <a:t>ботами</a:t>
            </a:r>
            <a:r>
              <a:rPr sz="1800" dirty="0">
                <a:latin typeface="Arial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Ко‑брендированные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подборки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подарков</a:t>
            </a:r>
            <a:r>
              <a:rPr sz="1800" dirty="0"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1" dirty="0">
                <a:latin typeface="Arial"/>
              </a:rPr>
              <a:t>D. </a:t>
            </a:r>
            <a:r>
              <a:rPr sz="1800" b="1" dirty="0" err="1">
                <a:latin typeface="Arial"/>
              </a:rPr>
              <a:t>Нишевая</a:t>
            </a:r>
            <a:r>
              <a:rPr sz="1800" b="1" dirty="0">
                <a:latin typeface="Arial"/>
              </a:rPr>
              <a:t> «</a:t>
            </a:r>
            <a:r>
              <a:rPr sz="1800" b="1" dirty="0" err="1">
                <a:latin typeface="Arial"/>
              </a:rPr>
              <a:t>посевная</a:t>
            </a:r>
            <a:r>
              <a:rPr sz="1800" b="1" dirty="0">
                <a:latin typeface="Arial"/>
              </a:rPr>
              <a:t>»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Запуск</a:t>
            </a:r>
            <a:r>
              <a:rPr sz="1800" dirty="0">
                <a:latin typeface="Arial"/>
              </a:rPr>
              <a:t> в 3 </a:t>
            </a:r>
            <a:r>
              <a:rPr sz="1800" dirty="0" err="1">
                <a:latin typeface="Arial"/>
              </a:rPr>
              <a:t>микросегментах</a:t>
            </a:r>
            <a:r>
              <a:rPr sz="1800" dirty="0">
                <a:latin typeface="Arial"/>
              </a:rPr>
              <a:t> с </a:t>
            </a:r>
            <a:r>
              <a:rPr sz="1800" dirty="0" err="1">
                <a:latin typeface="Arial"/>
              </a:rPr>
              <a:t>локальными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месседжами</a:t>
            </a:r>
            <a:r>
              <a:rPr sz="1800" dirty="0">
                <a:latin typeface="Arial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Контент‑серии</a:t>
            </a:r>
            <a:r>
              <a:rPr sz="1800" dirty="0">
                <a:latin typeface="Arial"/>
              </a:rPr>
              <a:t>: «</a:t>
            </a:r>
            <a:r>
              <a:rPr sz="1800" dirty="0" err="1">
                <a:latin typeface="Arial"/>
              </a:rPr>
              <a:t>идеи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подарков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по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анкете</a:t>
            </a:r>
            <a:r>
              <a:rPr sz="1800" dirty="0">
                <a:latin typeface="Arial"/>
              </a:rPr>
              <a:t>».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b="1" dirty="0">
                <a:latin typeface="Arial"/>
              </a:rPr>
              <a:t>E</a:t>
            </a:r>
            <a:r>
              <a:rPr lang="ru-RU" sz="1800" b="1" dirty="0">
                <a:latin typeface="Arial"/>
              </a:rPr>
              <a:t>. </a:t>
            </a:r>
            <a:r>
              <a:rPr sz="1800" b="1" dirty="0" err="1">
                <a:latin typeface="Arial"/>
              </a:rPr>
              <a:t>Инфлюенсеры</a:t>
            </a:r>
            <a:r>
              <a:rPr sz="1800" b="1" dirty="0">
                <a:latin typeface="Arial"/>
              </a:rPr>
              <a:t>/UGC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Arial"/>
              </a:rPr>
              <a:t>М</a:t>
            </a:r>
            <a:r>
              <a:rPr sz="1800" dirty="0" err="1">
                <a:latin typeface="Arial"/>
              </a:rPr>
              <a:t>икро‑инфлюенсеры</a:t>
            </a:r>
            <a:r>
              <a:rPr sz="1800" dirty="0">
                <a:latin typeface="Arial"/>
              </a:rPr>
              <a:t> (whitelisting), </a:t>
            </a:r>
            <a:r>
              <a:rPr sz="1800" dirty="0" err="1">
                <a:latin typeface="Arial"/>
              </a:rPr>
              <a:t>пост‑клик‑трекинг</a:t>
            </a:r>
            <a:r>
              <a:rPr lang="ru-RU" sz="1800" dirty="0">
                <a:latin typeface="Arial"/>
              </a:rPr>
              <a:t>.</a:t>
            </a:r>
            <a:endParaRPr sz="1800" dirty="0">
              <a:latin typeface="Arial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Экспертные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подборки</a:t>
            </a:r>
            <a:r>
              <a:rPr sz="1800" dirty="0">
                <a:latin typeface="Arial"/>
              </a:rPr>
              <a:t> «</a:t>
            </a:r>
            <a:r>
              <a:rPr sz="1800" dirty="0" err="1">
                <a:latin typeface="Arial"/>
              </a:rPr>
              <a:t>что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подарить</a:t>
            </a:r>
            <a:r>
              <a:rPr sz="1800" dirty="0">
                <a:latin typeface="Arial"/>
              </a:rPr>
              <a:t>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dirty="0" err="1">
                <a:latin typeface="Arial"/>
              </a:rPr>
              <a:t>Реестр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рисков</a:t>
            </a:r>
            <a:r>
              <a:rPr sz="3200" b="1" dirty="0">
                <a:latin typeface="Arial"/>
              </a:rPr>
              <a:t> и </a:t>
            </a:r>
            <a:r>
              <a:rPr sz="3200" b="1" dirty="0" err="1">
                <a:latin typeface="Arial"/>
              </a:rPr>
              <a:t>меры</a:t>
            </a:r>
            <a:endParaRPr sz="3200" b="1" dirty="0">
              <a:latin typeface="Arial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079609"/>
              </p:ext>
            </p:extLst>
          </p:nvPr>
        </p:nvGraphicFramePr>
        <p:xfrm>
          <a:off x="548640" y="1371600"/>
          <a:ext cx="8412480" cy="449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r>
                        <a:rPr sz="1300" b="1" dirty="0" err="1">
                          <a:latin typeface="Arial"/>
                        </a:rPr>
                        <a:t>Риск</a:t>
                      </a:r>
                      <a:endParaRPr sz="1300" b="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latin typeface="Arial"/>
                        </a:rPr>
                        <a:t>Вероятность</a:t>
                      </a:r>
                      <a:endParaRPr sz="1300" b="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Влияние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Arial"/>
                        </a:rPr>
                        <a:t>Митигирующие меры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dirty="0" err="1">
                          <a:latin typeface="Arial"/>
                        </a:rPr>
                        <a:t>Месседж</a:t>
                      </a:r>
                      <a:r>
                        <a:rPr sz="1200" dirty="0">
                          <a:latin typeface="Arial"/>
                        </a:rPr>
                        <a:t>/</a:t>
                      </a:r>
                      <a:r>
                        <a:rPr sz="1200" dirty="0" err="1">
                          <a:latin typeface="Arial"/>
                        </a:rPr>
                        <a:t>креатив</a:t>
                      </a:r>
                      <a:r>
                        <a:rPr sz="1200" dirty="0">
                          <a:latin typeface="Arial"/>
                        </a:rPr>
                        <a:t> ≠ 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Высокое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A/B‑матрица гипотез, 10× спринт, UGC‑пул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dirty="0">
                          <a:latin typeface="Arial"/>
                        </a:rPr>
                        <a:t>CAC &gt; LTV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Высокое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Кэп CAC ≤ 0.3×LTV; stop‑loss на 500 инст./сегмент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dirty="0" err="1">
                          <a:latin typeface="Arial"/>
                        </a:rPr>
                        <a:t>Слабая</a:t>
                      </a:r>
                      <a:r>
                        <a:rPr sz="1200" dirty="0">
                          <a:latin typeface="Arial"/>
                        </a:rPr>
                        <a:t> </a:t>
                      </a:r>
                      <a:r>
                        <a:rPr sz="1200" dirty="0" err="1">
                          <a:latin typeface="Arial"/>
                        </a:rPr>
                        <a:t>атрибуция</a:t>
                      </a:r>
                      <a:r>
                        <a:rPr sz="1200" dirty="0">
                          <a:latin typeface="Arial"/>
                        </a:rPr>
                        <a:t> в 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Среднее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UTM‑deeplink, postback, когортные отчёты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dirty="0" err="1">
                          <a:latin typeface="Arial"/>
                        </a:rPr>
                        <a:t>Низкая</a:t>
                      </a:r>
                      <a:r>
                        <a:rPr sz="1200" dirty="0">
                          <a:latin typeface="Arial"/>
                        </a:rPr>
                        <a:t> </a:t>
                      </a:r>
                      <a:r>
                        <a:rPr sz="1200" dirty="0" err="1">
                          <a:latin typeface="Arial"/>
                        </a:rPr>
                        <a:t>активация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Высокое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Онбординг к «первой ценности», импорт контактов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dirty="0" err="1">
                          <a:latin typeface="Arial"/>
                        </a:rPr>
                        <a:t>Сезонность</a:t>
                      </a:r>
                      <a:r>
                        <a:rPr sz="1200" dirty="0">
                          <a:latin typeface="Arial"/>
                        </a:rPr>
                        <a:t>/</a:t>
                      </a:r>
                      <a:r>
                        <a:rPr sz="1200" dirty="0" err="1">
                          <a:latin typeface="Arial"/>
                        </a:rPr>
                        <a:t>рост</a:t>
                      </a:r>
                      <a:r>
                        <a:rPr sz="1200" dirty="0">
                          <a:latin typeface="Arial"/>
                        </a:rPr>
                        <a:t> </a:t>
                      </a:r>
                      <a:r>
                        <a:rPr sz="1200" dirty="0" err="1">
                          <a:latin typeface="Arial"/>
                        </a:rPr>
                        <a:t>цены</a:t>
                      </a:r>
                      <a:r>
                        <a:rPr sz="1200" dirty="0">
                          <a:latin typeface="Arial"/>
                        </a:rPr>
                        <a:t> </a:t>
                      </a:r>
                      <a:r>
                        <a:rPr sz="1200" dirty="0" err="1">
                          <a:latin typeface="Arial"/>
                        </a:rPr>
                        <a:t>трафика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Среднее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Календарь бюджетов, флайтинг, релевантные креативы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dirty="0" err="1">
                          <a:latin typeface="Arial"/>
                        </a:rPr>
                        <a:t>Зависимость</a:t>
                      </a:r>
                      <a:r>
                        <a:rPr sz="1200" dirty="0">
                          <a:latin typeface="Arial"/>
                        </a:rPr>
                        <a:t> </a:t>
                      </a:r>
                      <a:r>
                        <a:rPr sz="1200" dirty="0" err="1">
                          <a:latin typeface="Arial"/>
                        </a:rPr>
                        <a:t>от</a:t>
                      </a:r>
                      <a:r>
                        <a:rPr sz="1200" dirty="0">
                          <a:latin typeface="Arial"/>
                        </a:rPr>
                        <a:t> </a:t>
                      </a:r>
                      <a:r>
                        <a:rPr sz="1200" dirty="0" err="1">
                          <a:latin typeface="Arial"/>
                        </a:rPr>
                        <a:t>подписок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dirty="0" err="1">
                          <a:latin typeface="Arial"/>
                        </a:rPr>
                        <a:t>Средняя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latin typeface="Arial"/>
                        </a:rPr>
                        <a:t>Высокое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dirty="0" err="1">
                          <a:latin typeface="Arial"/>
                        </a:rPr>
                        <a:t>Партнёрки</a:t>
                      </a:r>
                      <a:r>
                        <a:rPr sz="1200" dirty="0">
                          <a:latin typeface="Arial"/>
                        </a:rPr>
                        <a:t>/</a:t>
                      </a:r>
                      <a:r>
                        <a:rPr sz="1200" dirty="0" err="1">
                          <a:latin typeface="Arial"/>
                        </a:rPr>
                        <a:t>контент</a:t>
                      </a:r>
                      <a:r>
                        <a:rPr sz="1200" dirty="0">
                          <a:latin typeface="Arial"/>
                        </a:rPr>
                        <a:t>, </a:t>
                      </a:r>
                      <a:r>
                        <a:rPr sz="1200" dirty="0" err="1">
                          <a:latin typeface="Arial"/>
                        </a:rPr>
                        <a:t>семейные</a:t>
                      </a:r>
                      <a:r>
                        <a:rPr sz="1200" dirty="0">
                          <a:latin typeface="Arial"/>
                        </a:rPr>
                        <a:t>/</a:t>
                      </a:r>
                      <a:r>
                        <a:rPr sz="1200" dirty="0" err="1">
                          <a:latin typeface="Arial"/>
                        </a:rPr>
                        <a:t>групповые</a:t>
                      </a:r>
                      <a:r>
                        <a:rPr sz="1200" dirty="0">
                          <a:latin typeface="Arial"/>
                        </a:rPr>
                        <a:t> </a:t>
                      </a:r>
                      <a:r>
                        <a:rPr sz="1200" dirty="0" err="1">
                          <a:latin typeface="Arial"/>
                        </a:rPr>
                        <a:t>планы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latin typeface="Arial"/>
              </a:rPr>
              <a:t>Выбор и обоснование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412480" cy="4754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dirty="0" err="1">
                <a:latin typeface="Arial"/>
              </a:rPr>
              <a:t>Комбинировать</a:t>
            </a:r>
            <a:r>
              <a:rPr sz="1800" dirty="0">
                <a:latin typeface="Arial"/>
              </a:rPr>
              <a:t> A+B+C: </a:t>
            </a:r>
            <a:r>
              <a:rPr sz="1800" dirty="0" err="1">
                <a:latin typeface="Arial"/>
              </a:rPr>
              <a:t>починка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перфоманса</a:t>
            </a:r>
            <a:r>
              <a:rPr sz="1800" dirty="0">
                <a:latin typeface="Arial"/>
              </a:rPr>
              <a:t>, PLG‑</a:t>
            </a:r>
            <a:r>
              <a:rPr sz="1800" dirty="0" err="1">
                <a:latin typeface="Arial"/>
              </a:rPr>
              <a:t>петли</a:t>
            </a:r>
            <a:r>
              <a:rPr sz="1800" dirty="0">
                <a:latin typeface="Arial"/>
              </a:rPr>
              <a:t>, </a:t>
            </a:r>
            <a:r>
              <a:rPr sz="1800" dirty="0" err="1">
                <a:latin typeface="Arial"/>
              </a:rPr>
              <a:t>партнёрские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пилоты</a:t>
            </a:r>
            <a:r>
              <a:rPr sz="1800" dirty="0"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dirty="0" err="1">
                <a:latin typeface="Arial"/>
              </a:rPr>
              <a:t>Почему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это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работает</a:t>
            </a:r>
            <a:r>
              <a:rPr lang="ru-RU" sz="1800" dirty="0">
                <a:latin typeface="Arial"/>
              </a:rPr>
              <a:t>?</a:t>
            </a:r>
            <a:endParaRPr sz="1800" dirty="0">
              <a:latin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dirty="0">
                <a:latin typeface="Arial"/>
              </a:rPr>
              <a:t>A: </a:t>
            </a:r>
            <a:r>
              <a:rPr sz="1800" dirty="0" err="1">
                <a:latin typeface="Arial"/>
              </a:rPr>
              <a:t>снижаем</a:t>
            </a:r>
            <a:r>
              <a:rPr sz="1800" dirty="0">
                <a:latin typeface="Arial"/>
              </a:rPr>
              <a:t> CAC </a:t>
            </a:r>
            <a:r>
              <a:rPr sz="1800" dirty="0" err="1">
                <a:latin typeface="Arial"/>
              </a:rPr>
              <a:t>через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быстрые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тесты</a:t>
            </a:r>
            <a:r>
              <a:rPr sz="1800" dirty="0">
                <a:latin typeface="Arial"/>
              </a:rPr>
              <a:t> и </a:t>
            </a:r>
            <a:r>
              <a:rPr sz="1800" dirty="0" err="1">
                <a:latin typeface="Arial"/>
              </a:rPr>
              <a:t>фокус</a:t>
            </a:r>
            <a:r>
              <a:rPr sz="1800" dirty="0"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dirty="0">
                <a:latin typeface="Arial"/>
              </a:rPr>
              <a:t>B: </a:t>
            </a:r>
            <a:r>
              <a:rPr sz="1800" dirty="0" err="1">
                <a:latin typeface="Arial"/>
              </a:rPr>
              <a:t>выше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активация</a:t>
            </a:r>
            <a:r>
              <a:rPr sz="1800" dirty="0">
                <a:latin typeface="Arial"/>
              </a:rPr>
              <a:t>/</a:t>
            </a:r>
            <a:r>
              <a:rPr sz="1800" dirty="0" err="1">
                <a:latin typeface="Arial"/>
              </a:rPr>
              <a:t>удержание</a:t>
            </a:r>
            <a:r>
              <a:rPr sz="1800" dirty="0">
                <a:latin typeface="Arial"/>
              </a:rPr>
              <a:t> и </a:t>
            </a:r>
            <a:r>
              <a:rPr sz="1800" dirty="0" err="1">
                <a:latin typeface="Arial"/>
              </a:rPr>
              <a:t>органика</a:t>
            </a:r>
            <a:r>
              <a:rPr sz="1800" dirty="0"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dirty="0">
                <a:latin typeface="Arial"/>
              </a:rPr>
              <a:t>C: </a:t>
            </a:r>
            <a:r>
              <a:rPr sz="1800" dirty="0" err="1">
                <a:latin typeface="Arial"/>
              </a:rPr>
              <a:t>диверсификация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каналов</a:t>
            </a:r>
            <a:r>
              <a:rPr sz="1800" dirty="0">
                <a:latin typeface="Arial"/>
              </a:rPr>
              <a:t> и </a:t>
            </a:r>
            <a:r>
              <a:rPr sz="1800" dirty="0" err="1">
                <a:latin typeface="Arial"/>
              </a:rPr>
              <a:t>доходов</a:t>
            </a:r>
            <a:r>
              <a:rPr sz="1800" dirty="0"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latin typeface="Arial"/>
              </a:rPr>
              <a:t>План 30–60–90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412480" cy="4754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1" dirty="0">
                <a:latin typeface="Arial"/>
              </a:rPr>
              <a:t>0–30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Аудит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трекинга</a:t>
            </a:r>
            <a:r>
              <a:rPr sz="1800" dirty="0">
                <a:latin typeface="Arial"/>
              </a:rPr>
              <a:t>. </a:t>
            </a:r>
            <a:r>
              <a:rPr sz="1800" dirty="0" err="1">
                <a:latin typeface="Arial"/>
              </a:rPr>
              <a:t>Пауза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при</a:t>
            </a:r>
            <a:r>
              <a:rPr sz="1800" dirty="0">
                <a:latin typeface="Arial"/>
              </a:rPr>
              <a:t> CAC&gt;0.3×LTV.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latin typeface="Arial"/>
              </a:rPr>
              <a:t>10× </a:t>
            </a:r>
            <a:r>
              <a:rPr sz="1800" dirty="0" err="1">
                <a:latin typeface="Arial"/>
              </a:rPr>
              <a:t>креативов</a:t>
            </a:r>
            <a:r>
              <a:rPr sz="1800" dirty="0">
                <a:latin typeface="Arial"/>
              </a:rPr>
              <a:t> × 3 </a:t>
            </a:r>
            <a:r>
              <a:rPr sz="1800" dirty="0" err="1">
                <a:latin typeface="Arial"/>
              </a:rPr>
              <a:t>персоны</a:t>
            </a:r>
            <a:r>
              <a:rPr sz="1800" dirty="0">
                <a:latin typeface="Arial"/>
              </a:rPr>
              <a:t> × 3 </a:t>
            </a:r>
            <a:r>
              <a:rPr sz="1800" dirty="0" err="1">
                <a:latin typeface="Arial"/>
              </a:rPr>
              <a:t>формата</a:t>
            </a:r>
            <a:r>
              <a:rPr sz="1800" dirty="0">
                <a:latin typeface="Arial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Фиксы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онбординга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до</a:t>
            </a:r>
            <a:r>
              <a:rPr sz="1800" dirty="0">
                <a:latin typeface="Arial"/>
              </a:rPr>
              <a:t> «</a:t>
            </a:r>
            <a:r>
              <a:rPr sz="1800" dirty="0" err="1">
                <a:latin typeface="Arial"/>
              </a:rPr>
              <a:t>первой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ценности</a:t>
            </a:r>
            <a:r>
              <a:rPr sz="1800" dirty="0">
                <a:latin typeface="Arial"/>
              </a:rPr>
              <a:t>».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Старт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рефералки</a:t>
            </a:r>
            <a:r>
              <a:rPr sz="1800" dirty="0">
                <a:latin typeface="Arial"/>
              </a:rPr>
              <a:t>, </a:t>
            </a:r>
            <a:r>
              <a:rPr sz="1800" dirty="0" err="1">
                <a:latin typeface="Arial"/>
              </a:rPr>
              <a:t>подготовка</a:t>
            </a:r>
            <a:r>
              <a:rPr sz="1800" dirty="0">
                <a:latin typeface="Arial"/>
              </a:rPr>
              <a:t> 2–3 </a:t>
            </a:r>
            <a:r>
              <a:rPr sz="1800" dirty="0" err="1">
                <a:latin typeface="Arial"/>
              </a:rPr>
              <a:t>партнёрских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пилотов</a:t>
            </a:r>
            <a:r>
              <a:rPr sz="1800" dirty="0"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1" dirty="0">
                <a:latin typeface="Arial"/>
              </a:rPr>
              <a:t>31–60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Масштаб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победителей</a:t>
            </a:r>
            <a:r>
              <a:rPr sz="1800" dirty="0">
                <a:latin typeface="Arial"/>
              </a:rPr>
              <a:t>, </a:t>
            </a:r>
            <a:r>
              <a:rPr sz="1800" dirty="0" err="1">
                <a:latin typeface="Arial"/>
              </a:rPr>
              <a:t>отключение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проигравших</a:t>
            </a:r>
            <a:r>
              <a:rPr sz="1800" dirty="0">
                <a:latin typeface="Arial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Микро‑инфлюенсеры</a:t>
            </a:r>
            <a:r>
              <a:rPr sz="1800" dirty="0">
                <a:latin typeface="Arial"/>
              </a:rPr>
              <a:t>, UGC‑</a:t>
            </a:r>
            <a:r>
              <a:rPr sz="1800" dirty="0" err="1">
                <a:latin typeface="Arial"/>
              </a:rPr>
              <a:t>серии</a:t>
            </a:r>
            <a:r>
              <a:rPr sz="1800" dirty="0">
                <a:latin typeface="Arial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latin typeface="Arial"/>
              </a:rPr>
              <a:t>A/B </a:t>
            </a:r>
            <a:r>
              <a:rPr sz="1800" dirty="0" err="1">
                <a:latin typeface="Arial"/>
              </a:rPr>
              <a:t>тарифов</a:t>
            </a:r>
            <a:r>
              <a:rPr sz="1800" dirty="0">
                <a:latin typeface="Arial"/>
              </a:rPr>
              <a:t> (</a:t>
            </a:r>
            <a:r>
              <a:rPr sz="1800" dirty="0" err="1">
                <a:latin typeface="Arial"/>
              </a:rPr>
              <a:t>семейный</a:t>
            </a:r>
            <a:r>
              <a:rPr sz="1800" dirty="0">
                <a:latin typeface="Arial"/>
              </a:rPr>
              <a:t>/</a:t>
            </a:r>
            <a:r>
              <a:rPr sz="1800" dirty="0" err="1">
                <a:latin typeface="Arial"/>
              </a:rPr>
              <a:t>групповой</a:t>
            </a:r>
            <a:r>
              <a:rPr sz="1800" dirty="0">
                <a:latin typeface="Arial"/>
              </a:rPr>
              <a:t>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1" dirty="0">
                <a:latin typeface="Arial"/>
              </a:rPr>
              <a:t>61–90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Arial"/>
              </a:rPr>
              <a:t>Расширение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каналов</a:t>
            </a:r>
            <a:r>
              <a:rPr sz="1800" dirty="0">
                <a:latin typeface="Arial"/>
              </a:rPr>
              <a:t>, </a:t>
            </a:r>
            <a:r>
              <a:rPr sz="1800" dirty="0" err="1">
                <a:latin typeface="Arial"/>
              </a:rPr>
              <a:t>сезонные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кампании</a:t>
            </a:r>
            <a:r>
              <a:rPr sz="1800" dirty="0">
                <a:latin typeface="Arial"/>
              </a:rPr>
              <a:t>, </a:t>
            </a:r>
            <a:r>
              <a:rPr sz="1800" dirty="0" err="1">
                <a:latin typeface="Arial"/>
              </a:rPr>
              <a:t>ре‑прогноз</a:t>
            </a:r>
            <a:r>
              <a:rPr sz="1800" dirty="0">
                <a:latin typeface="Arial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latin typeface="Arial"/>
              </a:rPr>
              <a:t>B2B‑пилоты (HR/</a:t>
            </a:r>
            <a:r>
              <a:rPr sz="1800" dirty="0" err="1">
                <a:latin typeface="Arial"/>
              </a:rPr>
              <a:t>офисы</a:t>
            </a:r>
            <a:r>
              <a:rPr sz="1800" dirty="0">
                <a:latin typeface="Arial"/>
              </a:rPr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latin typeface="Arial"/>
              </a:rPr>
              <a:t>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412480" cy="4754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1" dirty="0" err="1">
                <a:latin typeface="Arial"/>
              </a:rPr>
              <a:t>Юнит‑экономика</a:t>
            </a:r>
            <a:endParaRPr sz="1800" b="1" dirty="0">
              <a:latin typeface="Arial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latin typeface="Arial"/>
              </a:rPr>
              <a:t>CAC </a:t>
            </a:r>
            <a:r>
              <a:rPr sz="1800" dirty="0" err="1">
                <a:latin typeface="Arial"/>
              </a:rPr>
              <a:t>по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каналам</a:t>
            </a:r>
            <a:r>
              <a:rPr sz="1800" dirty="0">
                <a:latin typeface="Arial"/>
              </a:rPr>
              <a:t> ≤ 0.3×LTV.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latin typeface="Arial"/>
              </a:rPr>
              <a:t>ARPU/LTV </a:t>
            </a:r>
            <a:r>
              <a:rPr sz="1800" dirty="0" err="1">
                <a:latin typeface="Arial"/>
              </a:rPr>
              <a:t>по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когортам</a:t>
            </a:r>
            <a:r>
              <a:rPr sz="1800" dirty="0">
                <a:latin typeface="Arial"/>
              </a:rPr>
              <a:t> 90/180 </a:t>
            </a:r>
            <a:r>
              <a:rPr sz="1800" dirty="0" err="1">
                <a:latin typeface="Arial"/>
              </a:rPr>
              <a:t>дней</a:t>
            </a:r>
            <a:r>
              <a:rPr sz="1800" dirty="0"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1" dirty="0" err="1">
                <a:latin typeface="Arial"/>
              </a:rPr>
              <a:t>Активация</a:t>
            </a:r>
            <a:r>
              <a:rPr lang="ru-RU" sz="1800" b="1" dirty="0">
                <a:latin typeface="Arial"/>
              </a:rPr>
              <a:t> </a:t>
            </a:r>
            <a:r>
              <a:rPr sz="1800" b="1" dirty="0">
                <a:latin typeface="Arial"/>
              </a:rPr>
              <a:t>/</a:t>
            </a:r>
            <a:r>
              <a:rPr lang="ru-RU" sz="1800" b="1" dirty="0">
                <a:latin typeface="Arial"/>
              </a:rPr>
              <a:t> </a:t>
            </a:r>
            <a:r>
              <a:rPr sz="1800" b="1" dirty="0" err="1">
                <a:latin typeface="Arial"/>
              </a:rPr>
              <a:t>удержание</a:t>
            </a:r>
            <a:endParaRPr sz="1800" b="1" dirty="0">
              <a:latin typeface="Arial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latin typeface="Arial"/>
              </a:rPr>
              <a:t>Activation D0: ≥</a:t>
            </a:r>
            <a:r>
              <a:rPr lang="ru-RU" sz="1800" dirty="0">
                <a:latin typeface="Arial"/>
              </a:rPr>
              <a:t>3</a:t>
            </a:r>
            <a:r>
              <a:rPr sz="1800" dirty="0">
                <a:latin typeface="Arial"/>
              </a:rPr>
              <a:t> ДР + 1 </a:t>
            </a:r>
            <a:r>
              <a:rPr sz="1800" dirty="0" err="1">
                <a:latin typeface="Arial"/>
              </a:rPr>
              <a:t>виш‑лист</a:t>
            </a:r>
            <a:r>
              <a:rPr sz="1800" dirty="0">
                <a:latin typeface="Arial"/>
              </a:rPr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latin typeface="Arial"/>
              </a:rPr>
              <a:t>Retention D7/D30, K‑factor </a:t>
            </a:r>
            <a:r>
              <a:rPr sz="1800" dirty="0" err="1">
                <a:latin typeface="Arial"/>
              </a:rPr>
              <a:t>рефералок</a:t>
            </a:r>
            <a:r>
              <a:rPr sz="1800" dirty="0"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700</Words>
  <Application>Microsoft Office PowerPoint</Application>
  <PresentationFormat>Экран (4:3)</PresentationFormat>
  <Paragraphs>100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Кейс №7: «Неудачная маркетинговая кампания» — BirthSync</vt:lpstr>
      <vt:lpstr>Контекст и проблема</vt:lpstr>
      <vt:lpstr>SWOT‑анализ BirthSync</vt:lpstr>
      <vt:lpstr>Альтернативные решения</vt:lpstr>
      <vt:lpstr>Реестр рисков и меры</vt:lpstr>
      <vt:lpstr>Выбор и обоснование</vt:lpstr>
      <vt:lpstr>План 30–60–90</vt:lpstr>
      <vt:lpstr>KPI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Roman Akulov</dc:creator>
  <cp:keywords/>
  <dc:description>generated using python-pptx</dc:description>
  <cp:lastModifiedBy>Roman Akulov</cp:lastModifiedBy>
  <cp:revision>2</cp:revision>
  <dcterms:created xsi:type="dcterms:W3CDTF">2013-01-27T09:14:16Z</dcterms:created>
  <dcterms:modified xsi:type="dcterms:W3CDTF">2025-10-04T11:42:57Z</dcterms:modified>
  <cp:category/>
</cp:coreProperties>
</file>