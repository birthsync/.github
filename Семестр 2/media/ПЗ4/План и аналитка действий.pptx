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2140"/>
        <p:guide orient="vert" pos="2073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0" Target="viewProps.xml" Type="http://schemas.openxmlformats.org/officeDocument/2006/relationships/viewProps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9" Target="tableStyles.xml" Type="http://schemas.openxmlformats.org/officeDocument/2006/relationships/tableStyles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4" name="GroupShape 1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" name="Shape 15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6" name="Shape 16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17" name="Shape 1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8" name="Shape 1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9" name="Shape 1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6A96C5F-FCE5-4584-A7C7-BFA2804E10A7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39" name="GroupShape 3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0" name="Shape 4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1" name="Shape 4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2" name="Shape 4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3" name="Shape 4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4" name="Shape 4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B015DD1-22D0-4C78-AD64-FBEACB5B2F5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27" name="GroupShape 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8" name="Shape 28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29" name="Shape 29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0" name="Shape 3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1" name="Shape 3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2" name="Shape 3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E7BDDB7-89C2-4A08-957F-AABBA21A8EB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49" name="GroupShape 4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0" name="Shape 5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1" name="Shape 5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2" name="Shape 5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3" name="Shape 5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6B41E3D-CC2F-432B-88D1-0848CC8840F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0" name="Shape 10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1" name="Shape 1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2" name="Shape 1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3" name="Shape 1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7865257-E6A4-4DC0-BED3-112B8E4297A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45" name="GroupShape 4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6" name="Shape 4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7" name="Shape 4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8" name="Shape 4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F84EBFB-FD2F-42A4-9E73-5CE879FA9E6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67" name="GroupShape 6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8" name="Shape 6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9" name="Shape 69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70" name="Shape 70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1" name="Shape 71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72" name="Shape 72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94811A1-73A4-438E-99C5-1F890E08C24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54" name="GroupShape 5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5" name="Shape 55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56" name="Shape 56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7" name="Shape 57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58" name="Shape 5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9" name="Shape 5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0" name="Shape 6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ECFD6FD-8B9D-4AC1-918C-2F9D64269ED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20" name="GroupShape 2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" name="Shape 21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22" name="Shape 22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23" name="Shape 23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24" name="Shape 2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5" name="Shape 2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6" name="Shape 2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942AF3E-7E38-4344-BDD8-BF254539C0B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33" name="GroupShape 3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4" name="Shape 3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5" name="Shape 3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6" name="Shape 3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7" name="Shape 3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8" name="Shape 3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E68AA77-325D-42E2-AE4F-D5090BA051E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61" name="GroupShape 6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2" name="Shape 62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3" name="Shape 63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4" name="Shape 6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5" name="Shape 6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6" name="Shape 6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7226BC4-018F-40FD-9888-5E6EE9C018A8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2C0832-BCF7-4B1B-9710-B108E2215BFF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t>Экстренный план действий — обеспечение поставок MVP</a:t>
            </a:r>
          </a:p>
        </p:txBody>
      </p:sp>
      <p:sp>
        <p:nvSpPr>
          <p:cNvPr hidden="false" id="78" name="Shape 78"/>
          <p:cNvSpPr txBox="true"/>
          <p:nvPr isPhoto="false">
            <p:ph idx="1" type="sub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buFont typeface="Arial"/>
              <a:buNone/>
            </a:pPr>
            <a:r>
              <a:t>Команда из 2 человек · Быстрая сессия (60 минут)</a:t>
            </a:r>
          </a:p>
          <a:p>
            <a:pPr algn="ctr" indent="0" marL="0">
              <a:buFont typeface="Arial"/>
              <a:buNone/>
            </a:pPr>
            <a:r>
              <a:t>Подготовлено для презентации преподавателю</a:t>
            </a: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9" name="GroupShape 7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0" name="Shape 8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t>One-page план: цель, приоритеты и шаги</a:t>
            </a:r>
          </a:p>
        </p:txBody>
      </p:sp>
      <p:sp>
        <p:nvSpPr>
          <p:cNvPr hidden="false" id="81" name="Shape 8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t>Цель: обеспечить непрерывность поставок критичных компонентов MVP и минимизировать риск срыва релиза (0–30 дней).</a:t>
            </a: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t>One-page план: цель, приоритеты и шаги</a:t>
            </a:r>
          </a:p>
        </p:txBody>
      </p:sp>
      <p:sp>
        <p:nvSpPr>
          <p:cNvPr hidden="false" id="84" name="Shape 84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/>
              <a:t>Приоритеты:</a:t>
            </a:r>
            <a:br>
              <a:rPr/>
            </a:br>
            <a:r>
              <a:rPr/>
              <a:t>• 1) Поддержать поставку критичных модулей на ближайшие 14 дней.</a:t>
            </a:r>
            <a:br>
              <a:rPr/>
            </a:br>
            <a:r>
              <a:rPr/>
              <a:t>• 2) Обеспечить прозрачную коммуникацию с преподавателем/ключевыми клиентами.</a:t>
            </a:r>
            <a:br>
              <a:rPr/>
            </a:br>
            <a:r>
              <a:rPr/>
              <a:t>• 3) Подготовить план dual-sourcing на 1–3 месяца.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5" name="GroupShape 8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6" name="Shape 8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t>One-page план: цель, приоритеты и шаги</a:t>
            </a:r>
          </a:p>
        </p:txBody>
      </p:sp>
      <p:sp>
        <p:nvSpPr>
          <p:cNvPr hidden="false" id="87" name="Shape 8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endParaRPr sz="1100"/>
          </a:p>
          <a:p>
            <a:pPr algn="l" indent="-342900" marL="342900">
              <a:buFont typeface="Arial"/>
              <a:buChar char="•"/>
            </a:pPr>
            <a:r>
              <a:t>Ключевые шаги:</a:t>
            </a:r>
            <a:br/>
            <a:r>
              <a:rPr sz="2600"/>
              <a:t>1) Оценка запасов и приоритизация (DOH) — Операции — 0–2 часа.</a:t>
            </a:r>
            <a:br>
              <a:rPr sz="2600"/>
            </a:br>
            <a:r>
              <a:rPr sz="2600"/>
              <a:t>2) Срочный контакт с резервными поставщиками — Операции — 0–12 часов.</a:t>
            </a:r>
            <a:br>
              <a:rPr sz="2600"/>
            </a:br>
            <a:r>
              <a:rPr sz="2600"/>
              <a:t>3) Резервирование логистики и перераспределение запасов — Координатор+Операции — 0–24 часа.</a:t>
            </a:r>
            <a:br>
              <a:rPr sz="2600"/>
            </a:br>
            <a:r>
              <a:rPr sz="2600"/>
              <a:t>4) Коммуникация преподавателю/клиентам — Координатор — в течение 3 часов.</a:t>
            </a:r>
            <a:br>
              <a:rPr sz="2600"/>
            </a:br>
            <a:r>
              <a:rPr sz="2600"/>
              <a:t>5) План перехода на dual-sourcing для топ-5 </a:t>
            </a:r>
            <a:r>
              <a:rPr sz="2600"/>
              <a:t>SKU — Операции — 3 рабочих дня.</a:t>
            </a:r>
            <a:endParaRPr sz="2600"/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8" name="GroupShape 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9" name="Shape 8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t>Риски, mitigations и KPI</a:t>
            </a:r>
          </a:p>
        </p:txBody>
      </p:sp>
      <p:sp>
        <p:nvSpPr>
          <p:cNvPr hidden="false" id="90" name="Shape 90"/>
          <p:cNvSpPr txBox="true"/>
          <p:nvPr isPhoto="false">
            <p:ph idx="1" type="body"/>
          </p:nvPr>
        </p:nvSpPr>
        <p:spPr>
          <a:xfrm flipH="false" flipV="false" rot="0">
            <a:off x="457200" y="1194216"/>
            <a:ext cx="8229600" cy="4931946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800"/>
              <a:t>Топ-3 риска и меры смягчения:</a:t>
            </a:r>
            <a:endParaRPr sz="2800"/>
          </a:p>
          <a:p>
            <a:pPr algn="l" indent="-342900" marL="342900">
              <a:buFont typeface="Arial"/>
              <a:buChar char="•"/>
            </a:pPr>
            <a:r>
              <a:rPr sz="2800"/>
              <a:t>• Нехватка критичных SKU → приоритизация по выручке и временное перераспределение запасов.</a:t>
            </a:r>
            <a:endParaRPr sz="2800"/>
          </a:p>
          <a:p>
            <a:pPr algn="l" indent="-342900" marL="342900">
              <a:buFont typeface="Arial"/>
              <a:buChar char="•"/>
            </a:pPr>
            <a:r>
              <a:rPr sz="2800"/>
              <a:t>• Рост стоимости срочных закупок → переговоры о компенсации в будущих контрактах.</a:t>
            </a:r>
            <a:endParaRPr sz="2800"/>
          </a:p>
          <a:p>
            <a:pPr algn="l" indent="-342900" marL="342900">
              <a:buFont typeface="Arial"/>
              <a:buChar char="•"/>
            </a:pPr>
            <a:br>
              <a:rPr sz="2800"/>
            </a:br>
            <a:r>
              <a:rPr sz="2800"/>
              <a:t>KPI (цели):</a:t>
            </a:r>
            <a:br>
              <a:rPr sz="2800"/>
            </a:br>
            <a:r>
              <a:rPr sz="2800"/>
              <a:t>• DOH критичных SKU ≥ 7 дней.</a:t>
            </a:r>
            <a:br>
              <a:rPr sz="2800"/>
            </a:br>
            <a:r>
              <a:rPr sz="2800"/>
              <a:t>• Fill rate ≥ 90% в течение 14 дней.</a:t>
            </a:r>
            <a:br>
              <a:rPr sz="2800"/>
            </a:br>
            <a:r>
              <a:rPr sz="2800"/>
              <a:t>• Time to Recovery (TTR) ≤ 21 дня.</a:t>
            </a:r>
            <a:endParaRPr sz="2800"/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xfrm flipH="false" flipV="false" rot="0">
            <a:off x="472814" y="274638"/>
            <a:ext cx="8229600" cy="1143000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sz="3600"/>
              <a:t>Таймлайн (60 мин) и распределение ролей (2 человека)</a:t>
            </a:r>
            <a:endParaRPr sz="3600"/>
          </a:p>
        </p:txBody>
      </p:sp>
      <p:sp>
        <p:nvSpPr>
          <p:cNvPr hidden="false" id="93" name="Shape 9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600"/>
              <a:t>Таймлайн (60 минут):</a:t>
            </a:r>
            <a:endParaRPr sz="2600"/>
          </a:p>
          <a:p>
            <a:pPr algn="l" indent="-342900" marL="342900">
              <a:buFont typeface="Arial"/>
              <a:buChar char="•"/>
            </a:pPr>
            <a:r>
              <a:rPr sz="2600"/>
              <a:t>0:00–0:05 — Бриф и цель (Координатор).</a:t>
            </a:r>
            <a:endParaRPr sz="2600"/>
          </a:p>
          <a:p>
            <a:pPr algn="l" indent="-342900" marL="342900">
              <a:buFont typeface="Arial"/>
              <a:buChar char="•"/>
            </a:pPr>
            <a:r>
              <a:rPr sz="2600"/>
              <a:t>0:05–0:18 — Оценка запасов и приоритизация (Операции).</a:t>
            </a:r>
            <a:endParaRPr sz="2600"/>
          </a:p>
          <a:p>
            <a:pPr algn="l" indent="-342900" marL="342900">
              <a:buFont typeface="Arial"/>
              <a:buChar char="•"/>
            </a:pPr>
            <a:r>
              <a:rPr sz="2600"/>
              <a:t>0:18–0:32 — Контакты с резервными поставщиками (Операции).</a:t>
            </a:r>
            <a:endParaRPr sz="2600"/>
          </a:p>
          <a:p>
            <a:pPr algn="l" indent="-342900" marL="342900">
              <a:buFont typeface="Arial"/>
              <a:buChar char="•"/>
            </a:pPr>
            <a:r>
              <a:rPr sz="2600"/>
              <a:t>0:32–0:44 — Составление one-page и слайдов (Операции + Координатор).</a:t>
            </a:r>
            <a:endParaRPr sz="2600"/>
          </a:p>
          <a:p>
            <a:pPr algn="l" indent="-342900" marL="342900">
              <a:buFont typeface="Arial"/>
              <a:buChar char="•"/>
            </a:pPr>
            <a:r>
              <a:rPr sz="2600"/>
              <a:t>0:44–0:52 — Репетиция (Оба).</a:t>
            </a:r>
            <a:endParaRPr sz="2600"/>
          </a:p>
          <a:p>
            <a:pPr algn="l" indent="-342900" marL="342900">
              <a:buFont typeface="Arial"/>
              <a:buChar char="•"/>
            </a:pPr>
            <a:r>
              <a:rPr sz="2600"/>
              <a:t>0:52–1:00 — Презентация преподавателю и Q&amp;A (Координатор).</a:t>
            </a:r>
            <a:endParaRPr sz="2600"/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MyOffice-CoreFramework-Windows/38-1384.1107.10199.1019.1@2600cfe5f4b542ca5f3c0e142379f873658cd812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